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5531ef841f4b3b" /><Relationship Type="http://schemas.openxmlformats.org/officeDocument/2006/relationships/extended-properties" Target="/docProps/app.xml" Id="Rb143055e511f4acb" /><Relationship Type="http://schemas.openxmlformats.org/officeDocument/2006/relationships/officeDocument" Target="/ppt/presentation.xml" Id="Ra7c66f8231d147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af16306eaa4b09"/>
  </p:sldMasterIdLst>
  <p:notesMasterIdLst>
    <p:notesMasterId xmlns:r="http://schemas.openxmlformats.org/officeDocument/2006/relationships" r:id="R39ef8c474e2241ad"/>
  </p:notesMasterIdLst>
  <p:sldIdLst>
    <p:sldId xmlns:r="http://schemas.openxmlformats.org/officeDocument/2006/relationships" id="256" r:id="R45b8f2fe66a640fc"/>
    <p:sldId xmlns:r="http://schemas.openxmlformats.org/officeDocument/2006/relationships" id="257" r:id="Raefb4efe08994167"/>
    <p:sldId xmlns:r="http://schemas.openxmlformats.org/officeDocument/2006/relationships" id="258" r:id="Rf0482ad3af9c4294"/>
    <p:sldId xmlns:r="http://schemas.openxmlformats.org/officeDocument/2006/relationships" id="259" r:id="Rb745963d075f452a"/>
    <p:sldId xmlns:r="http://schemas.openxmlformats.org/officeDocument/2006/relationships" id="260" r:id="R5e0b911c798743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737e177ec142eb" /><Relationship Type="http://schemas.openxmlformats.org/officeDocument/2006/relationships/slideMaster" Target="/ppt/slideMasters/slideMaster1.xml" Id="R45af16306eaa4b09" /><Relationship Type="http://schemas.openxmlformats.org/officeDocument/2006/relationships/notesMaster" Target="/ppt/notesMasters/notesMaster1.xml" Id="R39ef8c474e2241ad" /><Relationship Type="http://schemas.openxmlformats.org/officeDocument/2006/relationships/presProps" Target="/ppt/presProps.xml" Id="R685008ed889c4382" /><Relationship Type="http://schemas.openxmlformats.org/officeDocument/2006/relationships/tableStyles" Target="/ppt/tableStyles.xml" Id="R57f1945b3c304c60" /><Relationship Type="http://schemas.openxmlformats.org/officeDocument/2006/relationships/slide" Target="/ppt/slides/slide1.xml" Id="R45b8f2fe66a640fc" /><Relationship Type="http://schemas.openxmlformats.org/officeDocument/2006/relationships/slide" Target="/ppt/slides/slide2.xml" Id="Raefb4efe08994167" /><Relationship Type="http://schemas.openxmlformats.org/officeDocument/2006/relationships/slide" Target="/ppt/slides/slide3.xml" Id="Rf0482ad3af9c4294" /><Relationship Type="http://schemas.openxmlformats.org/officeDocument/2006/relationships/slide" Target="/ppt/slides/slide4.xml" Id="Rb745963d075f452a" /><Relationship Type="http://schemas.openxmlformats.org/officeDocument/2006/relationships/slide" Target="/ppt/slides/slide5.xml" Id="R5e0b911c798743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89b875ae7345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0f6058439e40ec" /><Relationship Type="http://schemas.openxmlformats.org/officeDocument/2006/relationships/notesMaster" Target="/ppt/notesMasters/notesMaster1.xml" Id="Rfaed4e3d999c43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b2e8deed4f423e" /><Relationship Type="http://schemas.openxmlformats.org/officeDocument/2006/relationships/notesMaster" Target="/ppt/notesMasters/notesMaster1.xml" Id="R7cdb555dac0745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39a36f2a714a59" /><Relationship Type="http://schemas.openxmlformats.org/officeDocument/2006/relationships/notesMaster" Target="/ppt/notesMasters/notesMaster1.xml" Id="R8ad6c81bc47245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46c932238741cf" /><Relationship Type="http://schemas.openxmlformats.org/officeDocument/2006/relationships/notesMaster" Target="/ppt/notesMasters/notesMaster1.xml" Id="R5eef28e429bf41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351132ccc544cc" /><Relationship Type="http://schemas.openxmlformats.org/officeDocument/2006/relationships/notesMaster" Target="/ppt/notesMasters/notesMaster1.xml" Id="Rafe6b3e795ac46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약 45초</a:t>
            </a:r>
          </a:p>
          <a:p xmlns:a="http://schemas.openxmlformats.org/drawingml/2006/main">
            <a:r>
              <a:t>KarmaGame은 전체 게임의 진행 상태와 스테이지를 관리합니다. 시작할 때 플레이어와 수호자를 생성하고, 수호자를 쓰러뜨리면 선택 화면이나 승리 화면으로 전환합니다. KarmaPlayer는 플레이어 조작을, KarmaEnemy는 수호자의 AI와 패턴을 처리합니다. 두 객체는 KarmaGame을 통해 설정과 게임 상태를 확인합니다. KarmaInput은 공통 키 입력을 제공합니다.</a:t>
            </a:r>
          </a:p>
          <a:p xmlns:a="http://schemas.openxmlformats.org/drawingml/2006/main">
            <a:r>
              <a:t>질문 대응: 빈 씬에서는 KarmaBootstrap이 KarmaGame을 생성합니다. KarmaStage는 전장을 구성합니다.</a:t>
            </a:r>
          </a:p>
          <a:p xmlns:a="http://schemas.openxmlformats.org/drawingml/2006/main">
            <a:r>
              <a:t>출처: Assets/K4RMA/Runtime/Flow/KarmaGame.cs, KarmaGame.Progression.cs, Player/KarmaPlayer.cs, Enemies/KarmaEnemy.cs, Input/KarmaInput.cs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도판 출처: Assets/ClassDiagramGeneratorOutput/ActualGenerator/01-game.png. 클래스 상자 또는 기존 관계 영역을 잘라 확대했습니다. 원본 클래스와 관계를 새로 그리지 않았습니다. 원본 파서는 일부 메서드와 관계를 누락하므로 역할 설명은 실제 소스 코드에 근거합니다.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약 60초</a:t>
            </a:r>
          </a:p>
          <a:p xmlns:a="http://schemas.openxmlformats.org/drawingml/2006/main">
            <a:r>
              <a:t>이 게임에서는 기술을 고유화할 때 플레이어와 다음 수호자가 함께 바뀝니다. KarmaEssences는 Unity 컴포넌트이며 실제 선택 상태는 Core의 KarmaProgressionState에 보관합니다. KarmaGame.Choose가 선택 후보를 저장하고 ConfirmChoice가 확정합니다. 다음 방을 만들 때 KarmaEnemy.Initialize가 SacrificeOrder를 읽고 KarmaPatternCatalog.Primary와 BuildCycle로 타입과 패턴 목록을 결정합니다. 예를 들어 검기 다음 상승베기를 선택하면 검기형에 SW03이 추가되고, 반대 순서이면 상승베기형에 UP03이 추가됩니다.</a:t>
            </a:r>
          </a:p>
          <a:p xmlns:a="http://schemas.openxmlformats.org/drawingml/2006/main">
            <a:r>
              <a:t>출처: Assets/K4RMA/Runtime/Abilities/KarmaEssences.cs, Core/KarmaProgressionState.cs, Core/KarmaPatternCatalog.cs, Runtime/Flow/KarmaGame.Progression.cs, Runtime/Enemies/KarmaEnemy.cs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도판 출처: Assets/ClassDiagramGeneratorOutput/ActualGenerator/01-game.png. 클래스 상자 또는 기존 관계 영역을 잘라 확대했습니다. 원본 클래스와 관계를 새로 그리지 않았습니다. 원본 파서는 일부 메서드와 관계를 누락하므로 역할 설명은 실제 소스 코드에 근거합니다.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약 45초</a:t>
            </a:r>
          </a:p>
          <a:p xmlns:a="http://schemas.openxmlformats.org/drawingml/2006/main">
            <a:r>
              <a:t>패턴 영상 설명 전이나 후에 사용하는 구현 설명 슬라이드입니다. KarmaBossAttack은 공격의 이동과 수명을 관리하고 수호자의 TryAttackHit에 판정을 요청합니다. KarmaProjectile은 플레이어의 검기와 반격 발사체에 사용합니다. 빠른 공격은 한 프레임 사이에 대상을 지나갈 수 있으므로 KarmaBossGeometry에서 이동 경로와 사각형의 충돌을 계산합니다. 분열 방패처럼 여러 조각이 있는 공격은 KarmaAttackContact를 공유해 같은 시전에서 접촉이 반복되는 것을 막습니다.</a:t>
            </a:r>
          </a:p>
          <a:p xmlns:a="http://schemas.openxmlformats.org/drawingml/2006/main">
            <a:r>
              <a:t>출처: Assets/K4RMA/Runtime/Combat/KarmaBossAttack.cs, KarmaProjectile.cs, Enemies/KarmaEnemy.Presentation.cs, Enemies/KarmaEnemy.Combat.cs, Core/KarmaBossRules.cs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도판 출처: Assets/ClassDiagramGeneratorOutput/ActualGenerator/01-game.png. 클래스 상자 또는 기존 관계 영역을 잘라 확대했습니다. 원본 클래스와 관계를 새로 그리지 않았습니다. 원본 파서는 일부 메서드와 관계를 누락하므로 역할 설명은 실제 소스 코드에 근거합니다.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보충 자료. 시간 여유가 있거나 설정 변경 방법을 질문받았을 때 사용합니다. 왼쪽은 KarmaConfig가 KarmaTechniqueTuning을 보관하는 관계이고, 오른쪽은 KarmaArtworkSettings가 KarmaSpriteLibrary 에셋을 참조하는 관계입니다. 두 그림의 화살표는 원본 PNG에 있던 관계를 그대로 포함합니다. KarmaConfig에는 보스 설정도 있으나 현재 생성기 출력에서는 이 관계가 누락되어 있습니다.</a:t>
            </a:r>
          </a:p>
          <a:p xmlns:a="http://schemas.openxmlformats.org/drawingml/2006/main">
            <a:r>
              <a:t>출처: Assets/K4RMA/Runtime/Configuration/KarmaConfig.cs, KarmaTechniqueTuning.cs, KarmaArtworkSettings.cs, KarmaSpriteLibrary.cs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도판 출처: Assets/ClassDiagramGeneratorOutput/ActualGenerator/01-game.png. 클래스 상자 또는 기존 관계 영역을 잘라 확대했습니다. 원본 클래스와 관계를 새로 그리지 않았습니다. 원본 파서는 일부 메서드와 관계를 누락하므로 역할 설명은 실제 소스 코드에 근거합니다.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보충 자료. 화면 표시 구조를 질문받았을 때 사용합니다. KarmaHUD는 KarmaGame 상태를 읽고 화면을 그리며 버튼 조작을 전달합니다. 플레이어와 수호자는 KarmaCharacterAnimator를 참조해 포즈를 요청합니다. KarmaCombatVFX와 KarmaRemnantVFX는 전투와 고유화 효과를 표시합니다. 실제 피해 판정은 앞서 설명한 전투 코드가 담당합니다.</a:t>
            </a:r>
          </a:p>
          <a:p xmlns:a="http://schemas.openxmlformats.org/drawingml/2006/main">
            <a:r>
              <a:t>출처: Assets/K4RMA/Runtime/UI/KarmaHUD.cs, KarmaHUD.Screens.cs, Presentation/KarmaCharacterAnimator.cs, KarmaCombatVFX.cs, KarmaRemnantVFX.cs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도판 출처: Assets/ClassDiagramGeneratorOutput/ActualGenerator/01-game.png. 클래스 상자 또는 기존 관계 영역을 잘라 확대했습니다. 원본 클래스와 관계를 새로 그리지 않았습니다. 원본 파서는 일부 메서드와 관계를 누락하므로 역할 설명은 실제 소스 코드에 근거합니다.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62416497e742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4cb38beee94f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a6a47a450640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9b1aad89844b9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fffed3e2ab4d5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cc824fcd3d41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74DF16-F1BC-4968-8FAA-4EFDEE843A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BB3A5FD-21A5-49E6-915F-3EC1725DA61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7EC2206-4FB6-4785-B6FB-6E1499BEF5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C3E587-5057-4ADB-B9C7-BB72D8D75B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D6D5BCD-D543-4486-811B-670892E92A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8812A5D-9A6E-40AB-8FD8-CAFF4CCBA9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5F69C3-BDD4-49A3-8707-5FE05AA82C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BEDD092-4D98-44A9-ADE8-58D121E8B11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DE04FF-6117-48BB-9D19-2BFF338E16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06ED14-ADF4-4D48-AFA2-2CE6ABD3B4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0310a55acb4219" /><Relationship Type="http://schemas.openxmlformats.org/officeDocument/2006/relationships/slideLayout" Target="/ppt/slideLayouts/slideLayout1.xml" Id="R532c22c916304ae1" /><Relationship Type="http://schemas.openxmlformats.org/officeDocument/2006/relationships/slideLayout" Target="/ppt/slideLayouts/slideLayout2.xml" Id="R7637b815c5254b9f" /><Relationship Type="http://schemas.openxmlformats.org/officeDocument/2006/relationships/slideLayout" Target="/ppt/slideLayouts/slideLayout3.xml" Id="Rbbb6d044bb8244df" /><Relationship Type="http://schemas.openxmlformats.org/officeDocument/2006/relationships/slideLayout" Target="/ppt/slideLayouts/slideLayout4.xml" Id="R23c4d6a510d64c68" /><Relationship Type="http://schemas.openxmlformats.org/officeDocument/2006/relationships/slideLayout" Target="/ppt/slideLayouts/slideLayout5.xml" Id="R880801d4afcd4a62" /><Relationship Type="http://schemas.openxmlformats.org/officeDocument/2006/relationships/slideLayout" Target="/ppt/slideLayouts/slideLayout6.xml" Id="R7911d68fa8234e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2c22c916304ae1"/>
    <p:sldLayoutId xmlns:r="http://schemas.openxmlformats.org/officeDocument/2006/relationships" id="2147483650" r:id="R7637b815c5254b9f"/>
    <p:sldLayoutId xmlns:r="http://schemas.openxmlformats.org/officeDocument/2006/relationships" id="2147483651" r:id="Rbbb6d044bb8244df"/>
    <p:sldLayoutId xmlns:r="http://schemas.openxmlformats.org/officeDocument/2006/relationships" id="2147483652" r:id="R23c4d6a510d64c68"/>
    <p:sldLayoutId xmlns:r="http://schemas.openxmlformats.org/officeDocument/2006/relationships" id="2147483653" r:id="R880801d4afcd4a62"/>
    <p:sldLayoutId xmlns:r="http://schemas.openxmlformats.org/officeDocument/2006/relationships" id="2147483654" r:id="R7911d68fa8234e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9694714b1242ba" /><Relationship Type="http://schemas.openxmlformats.org/officeDocument/2006/relationships/image" Target="/ppt/media/image.png" Id="R40e846cdae844bef" /><Relationship Type="http://schemas.openxmlformats.org/officeDocument/2006/relationships/image" Target="/ppt/media/image2.png" Id="R86dfae30d1534fb3" /><Relationship Type="http://schemas.openxmlformats.org/officeDocument/2006/relationships/image" Target="/ppt/media/image3.png" Id="R8f38257120bd4249" /><Relationship Type="http://schemas.openxmlformats.org/officeDocument/2006/relationships/image" Target="/ppt/media/image4.png" Id="R45a018b92abd4a66" /><Relationship Type="http://schemas.openxmlformats.org/officeDocument/2006/relationships/notesSlide" Target="/ppt/notesSlides/notesSlide1.xml" Id="R7e2c761c6da148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bd8f2a95794150" /><Relationship Type="http://schemas.openxmlformats.org/officeDocument/2006/relationships/image" Target="/ppt/media/image5.png" Id="Rc78553ad507f4817" /><Relationship Type="http://schemas.openxmlformats.org/officeDocument/2006/relationships/image" Target="/ppt/media/image6.png" Id="R296a4d051f5e4c72" /><Relationship Type="http://schemas.openxmlformats.org/officeDocument/2006/relationships/image" Target="/ppt/media/image7.png" Id="Rd59f705d9df94df7" /><Relationship Type="http://schemas.openxmlformats.org/officeDocument/2006/relationships/notesSlide" Target="/ppt/notesSlides/notesSlide2.xml" Id="R400f35531d5445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6e100e42f94162" /><Relationship Type="http://schemas.openxmlformats.org/officeDocument/2006/relationships/image" Target="/ppt/media/image8.png" Id="Rb032c5d1f1a944a8" /><Relationship Type="http://schemas.openxmlformats.org/officeDocument/2006/relationships/image" Target="/ppt/media/image9.png" Id="R47c8088c55e94367" /><Relationship Type="http://schemas.openxmlformats.org/officeDocument/2006/relationships/image" Target="/ppt/media/image10.png" Id="R04327e7378e0474b" /><Relationship Type="http://schemas.openxmlformats.org/officeDocument/2006/relationships/image" Target="/ppt/media/image11.png" Id="R444f014e7058464f" /><Relationship Type="http://schemas.openxmlformats.org/officeDocument/2006/relationships/notesSlide" Target="/ppt/notesSlides/notesSlide3.xml" Id="R5f6f1edc8cbf4c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a50f1e92fd4c87" /><Relationship Type="http://schemas.openxmlformats.org/officeDocument/2006/relationships/image" Target="/ppt/media/image12.png" Id="Rc6cf22993af04e31" /><Relationship Type="http://schemas.openxmlformats.org/officeDocument/2006/relationships/image" Target="/ppt/media/image13.png" Id="Rf319109700b64653" /><Relationship Type="http://schemas.openxmlformats.org/officeDocument/2006/relationships/notesSlide" Target="/ppt/notesSlides/notesSlide4.xml" Id="Rfb755a9a426d47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d207fe76f846ba" /><Relationship Type="http://schemas.openxmlformats.org/officeDocument/2006/relationships/image" Target="/ppt/media/image14.png" Id="R8432b3432be24f16" /><Relationship Type="http://schemas.openxmlformats.org/officeDocument/2006/relationships/image" Target="/ppt/media/image15.png" Id="Rc374db5530874d29" /><Relationship Type="http://schemas.openxmlformats.org/officeDocument/2006/relationships/image" Target="/ppt/media/image16.png" Id="R55953a3bafd34b48" /><Relationship Type="http://schemas.openxmlformats.org/officeDocument/2006/relationships/image" Target="/ppt/media/image17.png" Id="R70cb5af3dbdb4c25" /><Relationship Type="http://schemas.openxmlformats.org/officeDocument/2006/relationships/notesSlide" Target="/ppt/notesSlides/notesSlide5.xml" Id="R04c56407cde442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16B8F012-8437-405B-9EE5-C85102F4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rPr>
              <a:t>게임 진행과 전투 객체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3FF5842-B976-4468-9E4F-D6FEFE5F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rPr>
              <a:t>게임 흐름은 KarmaGame이 관리하고, 캐릭터는 각자의 행동을 처리한다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789D0-0716-49D5-94F2-CDD95CA012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846cdae844bef"/>
          <a:stretch xmlns:a="http://schemas.openxmlformats.org/drawingml/2006/main"/>
        </p:blipFill>
        <p:spPr>
          <a:xfrm xmlns:a="http://schemas.openxmlformats.org/drawingml/2006/main">
            <a:off x="1755556" y="1771650"/>
            <a:ext cx="1708588" cy="971550"/>
          </a:xfrm>
          <a:prstGeom xmlns:a="http://schemas.openxmlformats.org/drawingml/2006/main" prst="rect">
            <a:avLst/>
          </a:prstGeom>
        </p:spPr>
      </p:pic>
      <p:sp>
        <p:nvSpPr>
          <p:cNvPr id="4" name="KarmaGame-role">
            <a:extLst xmlns:a="http://schemas.openxmlformats.org/drawingml/2006/main">
              <a:ext uri="{FF2B5EF4-FFF2-40B4-BE49-F238E27FC236}">
                <a16:creationId xmlns:a16="http://schemas.microsoft.com/office/drawing/2014/main" id="{60EAE089-8ED2-4459-B361-6C16E9F1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19275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rPr>
              <a:t>진행 상태와 스테이지 관리</a:t>
            </a:r>
          </a:p>
        </p:txBody>
      </p:sp>
      <p:sp>
        <p:nvSpPr>
          <p:cNvPr id="5" name="KarmaGame-body">
            <a:extLst xmlns:a="http://schemas.openxmlformats.org/drawingml/2006/main">
              <a:ext uri="{FF2B5EF4-FFF2-40B4-BE49-F238E27FC236}">
                <a16:creationId xmlns:a16="http://schemas.microsoft.com/office/drawing/2014/main" id="{2246769F-C928-42BE-907A-2DEC214C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38375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rPr>
              <a:t>플레이어와 수호자를 생성하고, 선택과 전투 종료를 처리한다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21183-5951-40E8-9C3A-F71600FFFB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fae30d1534fb3"/>
          <a:stretch xmlns:a="http://schemas.openxmlformats.org/drawingml/2006/main"/>
        </p:blipFill>
        <p:spPr>
          <a:xfrm xmlns:a="http://schemas.openxmlformats.org/drawingml/2006/main">
            <a:off x="1756274" y="2876550"/>
            <a:ext cx="1707152" cy="971550"/>
          </a:xfrm>
          <a:prstGeom xmlns:a="http://schemas.openxmlformats.org/drawingml/2006/main" prst="rect">
            <a:avLst/>
          </a:prstGeom>
        </p:spPr>
      </p:pic>
      <p:sp>
        <p:nvSpPr>
          <p:cNvPr id="7" name="KarmaPlayer-role">
            <a:extLst xmlns:a="http://schemas.openxmlformats.org/drawingml/2006/main">
              <a:ext uri="{FF2B5EF4-FFF2-40B4-BE49-F238E27FC236}">
                <a16:creationId xmlns:a16="http://schemas.microsoft.com/office/drawing/2014/main" id="{38639B81-30BD-4A54-B806-02D873C5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24175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rPr>
              <a:t>플레이어 행동</a:t>
            </a:r>
          </a:p>
        </p:txBody>
      </p:sp>
      <p:sp>
        <p:nvSpPr>
          <p:cNvPr id="8" name="KarmaPlayer-body">
            <a:extLst xmlns:a="http://schemas.openxmlformats.org/drawingml/2006/main">
              <a:ext uri="{FF2B5EF4-FFF2-40B4-BE49-F238E27FC236}">
                <a16:creationId xmlns:a16="http://schemas.microsoft.com/office/drawing/2014/main" id="{88B6E901-7508-42CC-A167-F8D570EF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43275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rPr>
              <a:t>이동과 점프, 공격 입력, 피격을 처리한다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EC306-2816-47FF-8319-55DD62F367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8257120bd4249"/>
          <a:stretch xmlns:a="http://schemas.openxmlformats.org/drawingml/2006/main"/>
        </p:blipFill>
        <p:spPr>
          <a:xfrm xmlns:a="http://schemas.openxmlformats.org/drawingml/2006/main">
            <a:off x="1467379" y="3981450"/>
            <a:ext cx="2284942" cy="971550"/>
          </a:xfrm>
          <a:prstGeom xmlns:a="http://schemas.openxmlformats.org/drawingml/2006/main" prst="rect">
            <a:avLst/>
          </a:prstGeom>
        </p:spPr>
      </p:pic>
      <p:sp>
        <p:nvSpPr>
          <p:cNvPr id="10" name="KarmaEnemy-role">
            <a:extLst xmlns:a="http://schemas.openxmlformats.org/drawingml/2006/main">
              <a:ext uri="{FF2B5EF4-FFF2-40B4-BE49-F238E27FC236}">
                <a16:creationId xmlns:a16="http://schemas.microsoft.com/office/drawing/2014/main" id="{CC427B97-9A3C-4938-B7C7-595C6BE9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29075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rPr>
              <a:t>수호자 행동</a:t>
            </a:r>
          </a:p>
        </p:txBody>
      </p:sp>
      <p:sp>
        <p:nvSpPr>
          <p:cNvPr id="11" name="KarmaEnemy-body">
            <a:extLst xmlns:a="http://schemas.openxmlformats.org/drawingml/2006/main">
              <a:ext uri="{FF2B5EF4-FFF2-40B4-BE49-F238E27FC236}">
                <a16:creationId xmlns:a16="http://schemas.microsoft.com/office/drawing/2014/main" id="{A6F1B66F-7FF7-4180-B3D2-01A18CA5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48175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rPr>
              <a:t>공격 패턴을 선택하고 실행하며, 체력과 방어 상태를 관리한다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B4DF7-1342-482E-B72B-6B8F9238B5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018b92abd4a66"/>
          <a:stretch xmlns:a="http://schemas.openxmlformats.org/drawingml/2006/main"/>
        </p:blipFill>
        <p:spPr>
          <a:xfrm xmlns:a="http://schemas.openxmlformats.org/drawingml/2006/main">
            <a:off x="1789058" y="5086350"/>
            <a:ext cx="1641584" cy="971550"/>
          </a:xfrm>
          <a:prstGeom xmlns:a="http://schemas.openxmlformats.org/drawingml/2006/main" prst="rect">
            <a:avLst/>
          </a:prstGeom>
        </p:spPr>
      </p:pic>
      <p:sp>
        <p:nvSpPr>
          <p:cNvPr id="13" name="KarmaInput-role">
            <a:extLst xmlns:a="http://schemas.openxmlformats.org/drawingml/2006/main">
              <a:ext uri="{FF2B5EF4-FFF2-40B4-BE49-F238E27FC236}">
                <a16:creationId xmlns:a16="http://schemas.microsoft.com/office/drawing/2014/main" id="{004155F8-FC1E-4B2C-BCAF-6E75A339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33975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rPr>
              <a:t>공통 입력 처리</a:t>
            </a:r>
          </a:p>
        </p:txBody>
      </p:sp>
      <p:sp>
        <p:nvSpPr>
          <p:cNvPr id="14" name="KarmaInput-body">
            <a:extLst xmlns:a="http://schemas.openxmlformats.org/drawingml/2006/main">
              <a:ext uri="{FF2B5EF4-FFF2-40B4-BE49-F238E27FC236}">
                <a16:creationId xmlns:a16="http://schemas.microsoft.com/office/drawing/2014/main" id="{11CB31E7-66CC-4136-9282-653EA08C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53075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rPr>
              <a:t>키 입력을 이동, 공격, 기술 선택 등의 게임 동작으로 변환한다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4819CA5D-4E2C-4D40-B3CB-09DCA250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rPr>
              <a:t>원본 자동 생성 PNG 발췌</a:t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4F67D7C7-E220-4436-AFBC-F92C5AE3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36717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EDA620D5-678D-4716-9221-EA4B5268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rPr>
              <a:t>고유화 선택과 다음 수호자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ADBB979-CE64-4F08-B206-FF014F18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rPr>
              <a:t>첫 선택은 수호자 타입을 정하고, 이후 선택은 계승 패턴을 추가한다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A2AD4-799E-4DFA-B30C-D897395948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553ad507f4817"/>
          <a:stretch xmlns:a="http://schemas.openxmlformats.org/drawingml/2006/main"/>
        </p:blipFill>
        <p:spPr>
          <a:xfrm xmlns:a="http://schemas.openxmlformats.org/drawingml/2006/main">
            <a:off x="919868" y="1800225"/>
            <a:ext cx="3379964" cy="1276350"/>
          </a:xfrm>
          <a:prstGeom xmlns:a="http://schemas.openxmlformats.org/drawingml/2006/main" prst="rect">
            <a:avLst/>
          </a:prstGeom>
        </p:spPr>
      </p:pic>
      <p:sp>
        <p:nvSpPr>
          <p:cNvPr id="4" name="KarmaEssences-role">
            <a:extLst xmlns:a="http://schemas.openxmlformats.org/drawingml/2006/main">
              <a:ext uri="{FF2B5EF4-FFF2-40B4-BE49-F238E27FC236}">
                <a16:creationId xmlns:a16="http://schemas.microsoft.com/office/drawing/2014/main" id="{84637BAD-4A6D-4350-B9E7-DD9B8EC3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478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rPr>
              <a:t>Unity와 기술 규칙의 연결</a:t>
            </a:r>
          </a:p>
        </p:txBody>
      </p:sp>
      <p:sp>
        <p:nvSpPr>
          <p:cNvPr id="5" name="KarmaEssences-body">
            <a:extLst xmlns:a="http://schemas.openxmlformats.org/drawingml/2006/main">
              <a:ext uri="{FF2B5EF4-FFF2-40B4-BE49-F238E27FC236}">
                <a16:creationId xmlns:a16="http://schemas.microsoft.com/office/drawing/2014/main" id="{541F4160-8FD8-4932-9F93-A64F2BA0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669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rPr>
              <a:t>원형 기술 사용과 고유화 선택을 처리한다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17AB0-7D63-41DA-8825-A137D20325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a4d051f5e4c72"/>
          <a:stretch xmlns:a="http://schemas.openxmlformats.org/drawingml/2006/main"/>
        </p:blipFill>
        <p:spPr>
          <a:xfrm xmlns:a="http://schemas.openxmlformats.org/drawingml/2006/main">
            <a:off x="609600" y="3309962"/>
            <a:ext cx="4000500" cy="1076277"/>
          </a:xfrm>
          <a:prstGeom xmlns:a="http://schemas.openxmlformats.org/drawingml/2006/main" prst="rect">
            <a:avLst/>
          </a:prstGeom>
        </p:spPr>
      </p:pic>
      <p:sp>
        <p:nvSpPr>
          <p:cNvPr id="7" name="KarmaProgressionState-role">
            <a:extLst xmlns:a="http://schemas.openxmlformats.org/drawingml/2006/main">
              <a:ext uri="{FF2B5EF4-FFF2-40B4-BE49-F238E27FC236}">
                <a16:creationId xmlns:a16="http://schemas.microsoft.com/office/drawing/2014/main" id="{8CC0C5DC-32EC-4B00-9888-3E80C29C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rPr>
              <a:t>선택 여부와 순서 저장</a:t>
            </a:r>
          </a:p>
        </p:txBody>
      </p:sp>
      <p:sp>
        <p:nvSpPr>
          <p:cNvPr id="8" name="KarmaProgressionState-body">
            <a:extLst xmlns:a="http://schemas.openxmlformats.org/drawingml/2006/main">
              <a:ext uri="{FF2B5EF4-FFF2-40B4-BE49-F238E27FC236}">
                <a16:creationId xmlns:a16="http://schemas.microsoft.com/office/drawing/2014/main" id="{03CCFA89-5B34-4D8B-B1B0-D7A8DD2B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766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rPr>
              <a:t>선택 후보를 보관하고 확정하며, 같은 기술의 중복 선택을 막는다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7DC62F-360F-4E27-8F23-59A621C236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f705d9df94df7"/>
          <a:stretch xmlns:a="http://schemas.openxmlformats.org/drawingml/2006/main"/>
        </p:blipFill>
        <p:spPr>
          <a:xfrm xmlns:a="http://schemas.openxmlformats.org/drawingml/2006/main">
            <a:off x="609600" y="4678493"/>
            <a:ext cx="4000500" cy="1158615"/>
          </a:xfrm>
          <a:prstGeom xmlns:a="http://schemas.openxmlformats.org/drawingml/2006/main" prst="rect">
            <a:avLst/>
          </a:prstGeom>
        </p:spPr>
      </p:pic>
      <p:sp>
        <p:nvSpPr>
          <p:cNvPr id="10" name="KarmaPatternCatalog-role">
            <a:extLst xmlns:a="http://schemas.openxmlformats.org/drawingml/2006/main">
              <a:ext uri="{FF2B5EF4-FFF2-40B4-BE49-F238E27FC236}">
                <a16:creationId xmlns:a16="http://schemas.microsoft.com/office/drawing/2014/main" id="{2B05B9BD-6189-4938-A03E-5883BD9E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672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rPr>
              <a:t>선택 순서에 따른 패턴 구성</a:t>
            </a:r>
          </a:p>
        </p:txBody>
      </p:sp>
      <p:sp>
        <p:nvSpPr>
          <p:cNvPr id="11" name="KarmaPatternCatalog-body">
            <a:extLst xmlns:a="http://schemas.openxmlformats.org/drawingml/2006/main">
              <a:ext uri="{FF2B5EF4-FFF2-40B4-BE49-F238E27FC236}">
                <a16:creationId xmlns:a16="http://schemas.microsoft.com/office/drawing/2014/main" id="{C0A56B18-537F-4721-AC72-7D655965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863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rPr>
              <a:t>첫 기술로 타입을 정하고, 계승한 기술에 맞는 공격 목록을 만든다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CBA9C3DC-166B-4AD3-9151-ED5724F8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rPr>
              <a:t>원본 자동 생성 PNG 발췌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4C3C8FD9-293A-4E83-88CC-7701E646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664190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C52B4ECA-76C4-4166-BC87-CBFE8481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rPr>
              <a:t>공격 객체와 충돌 판정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5FBBC76-CB47-4FEF-B6CB-FA49065E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rPr>
              <a:t>공격의 이동과 수명은 Runtime에서, 재사용하는 판정 규칙은 Core에서 처리한다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03716-D679-4B8E-A3BF-4AD5B33EDF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2c5d1f1a944a8"/>
          <a:stretch xmlns:a="http://schemas.openxmlformats.org/drawingml/2006/main"/>
        </p:blipFill>
        <p:spPr>
          <a:xfrm xmlns:a="http://schemas.openxmlformats.org/drawingml/2006/main">
            <a:off x="1215496" y="1771650"/>
            <a:ext cx="2788708" cy="971550"/>
          </a:xfrm>
          <a:prstGeom xmlns:a="http://schemas.openxmlformats.org/drawingml/2006/main" prst="rect">
            <a:avLst/>
          </a:prstGeom>
        </p:spPr>
      </p:pic>
      <p:sp>
        <p:nvSpPr>
          <p:cNvPr id="4" name="KarmaBossAttack-role">
            <a:extLst xmlns:a="http://schemas.openxmlformats.org/drawingml/2006/main">
              <a:ext uri="{FF2B5EF4-FFF2-40B4-BE49-F238E27FC236}">
                <a16:creationId xmlns:a16="http://schemas.microsoft.com/office/drawing/2014/main" id="{A247BF6E-3D3C-4EE8-9557-DAE98756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19275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rPr>
              <a:t>수호자 공격 객체</a:t>
            </a:r>
          </a:p>
        </p:txBody>
      </p:sp>
      <p:sp>
        <p:nvSpPr>
          <p:cNvPr id="5" name="KarmaBossAttack-body">
            <a:extLst xmlns:a="http://schemas.openxmlformats.org/drawingml/2006/main">
              <a:ext uri="{FF2B5EF4-FFF2-40B4-BE49-F238E27FC236}">
                <a16:creationId xmlns:a16="http://schemas.microsoft.com/office/drawing/2014/main" id="{BF13B2DF-1AE8-4C8F-8178-B4BACEB7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38375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rPr>
              <a:t>공격을 이동시키고 수명을 관리하며, 소유 수호자에게 판정을 요청한다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6EEB3-CE8B-41F0-A8E6-F42252A8DF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8088c55e94367"/>
          <a:stretch xmlns:a="http://schemas.openxmlformats.org/drawingml/2006/main"/>
        </p:blipFill>
        <p:spPr>
          <a:xfrm xmlns:a="http://schemas.openxmlformats.org/drawingml/2006/main">
            <a:off x="1305454" y="2876550"/>
            <a:ext cx="2608792" cy="971550"/>
          </a:xfrm>
          <a:prstGeom xmlns:a="http://schemas.openxmlformats.org/drawingml/2006/main" prst="rect">
            <a:avLst/>
          </a:prstGeom>
        </p:spPr>
      </p:pic>
      <p:sp>
        <p:nvSpPr>
          <p:cNvPr id="7" name="KarmaProjectile-role">
            <a:extLst xmlns:a="http://schemas.openxmlformats.org/drawingml/2006/main">
              <a:ext uri="{FF2B5EF4-FFF2-40B4-BE49-F238E27FC236}">
                <a16:creationId xmlns:a16="http://schemas.microsoft.com/office/drawing/2014/main" id="{40D19787-3845-49BA-AE38-7D3FA498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24175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rPr>
              <a:t>플레이어 발사체</a:t>
            </a:r>
          </a:p>
        </p:txBody>
      </p:sp>
      <p:sp>
        <p:nvSpPr>
          <p:cNvPr id="8" name="KarmaProjectile-body">
            <a:extLst xmlns:a="http://schemas.openxmlformats.org/drawingml/2006/main">
              <a:ext uri="{FF2B5EF4-FFF2-40B4-BE49-F238E27FC236}">
                <a16:creationId xmlns:a16="http://schemas.microsoft.com/office/drawing/2014/main" id="{5AB48AD8-6FB4-4BE1-9717-4E577533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43275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rPr>
              <a:t>이동 경로에서 수호자를 검사하고 피해를 전달한다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EF269-D7B8-4324-B4FB-EB0C773B32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27e7378e0474b"/>
          <a:stretch xmlns:a="http://schemas.openxmlformats.org/drawingml/2006/main"/>
        </p:blipFill>
        <p:spPr>
          <a:xfrm xmlns:a="http://schemas.openxmlformats.org/drawingml/2006/main">
            <a:off x="987545" y="3981450"/>
            <a:ext cx="3244610" cy="971550"/>
          </a:xfrm>
          <a:prstGeom xmlns:a="http://schemas.openxmlformats.org/drawingml/2006/main" prst="rect">
            <a:avLst/>
          </a:prstGeom>
        </p:spPr>
      </p:pic>
      <p:sp>
        <p:nvSpPr>
          <p:cNvPr id="10" name="KarmaAttackContact-role">
            <a:extLst xmlns:a="http://schemas.openxmlformats.org/drawingml/2006/main">
              <a:ext uri="{FF2B5EF4-FFF2-40B4-BE49-F238E27FC236}">
                <a16:creationId xmlns:a16="http://schemas.microsoft.com/office/drawing/2014/main" id="{7B3B8FEA-D059-4783-AC94-E2BC347A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29075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rPr>
              <a:t>한 시전의 접촉 기록</a:t>
            </a:r>
          </a:p>
        </p:txBody>
      </p:sp>
      <p:sp>
        <p:nvSpPr>
          <p:cNvPr id="11" name="KarmaAttackContact-body">
            <a:extLst xmlns:a="http://schemas.openxmlformats.org/drawingml/2006/main">
              <a:ext uri="{FF2B5EF4-FFF2-40B4-BE49-F238E27FC236}">
                <a16:creationId xmlns:a16="http://schemas.microsoft.com/office/drawing/2014/main" id="{90B2A790-F2CC-4495-9BAD-86E80672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48175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rPr>
              <a:t>여러 파편이 공유하는 공격의 접촉을 한 번만 처리한다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4F1F7F-3DE4-426B-B996-58A25C5BB5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f014e7058464f"/>
          <a:stretch xmlns:a="http://schemas.openxmlformats.org/drawingml/2006/main"/>
        </p:blipFill>
        <p:spPr>
          <a:xfrm xmlns:a="http://schemas.openxmlformats.org/drawingml/2006/main">
            <a:off x="969214" y="5086350"/>
            <a:ext cx="3281273" cy="971550"/>
          </a:xfrm>
          <a:prstGeom xmlns:a="http://schemas.openxmlformats.org/drawingml/2006/main" prst="rect">
            <a:avLst/>
          </a:prstGeom>
        </p:spPr>
      </p:pic>
      <p:sp>
        <p:nvSpPr>
          <p:cNvPr id="13" name="KarmaBossGeometry-role">
            <a:extLst xmlns:a="http://schemas.openxmlformats.org/drawingml/2006/main">
              <a:ext uri="{FF2B5EF4-FFF2-40B4-BE49-F238E27FC236}">
                <a16:creationId xmlns:a16="http://schemas.microsoft.com/office/drawing/2014/main" id="{5A183CB4-835B-43D9-9C19-C6764378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33975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rPr>
              <a:t>이동 경로 충돌 검사</a:t>
            </a:r>
          </a:p>
        </p:txBody>
      </p:sp>
      <p:sp>
        <p:nvSpPr>
          <p:cNvPr id="14" name="KarmaBossGeometry-body">
            <a:extLst xmlns:a="http://schemas.openxmlformats.org/drawingml/2006/main">
              <a:ext uri="{FF2B5EF4-FFF2-40B4-BE49-F238E27FC236}">
                <a16:creationId xmlns:a16="http://schemas.microsoft.com/office/drawing/2014/main" id="{1CFF5908-257E-418E-93D3-5382FCC8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53075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rPr>
              <a:t>시작점과 끝점 사이를 검사해 빠른 공격이 대상을 통과하는 문제를 줄인다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F14BC15A-D467-4EB1-BB9C-304B698D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rPr>
              <a:t>원본 자동 생성 PNG 발췌</a:t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CDFED9C6-45F2-4B90-8F05-53741C97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222231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55503D0D-E13A-411F-B3F9-3829EE6C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rPr>
              <a:t>게임 수치와 이미지 설정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B3F143E-2ADD-42A5-B0D7-F71C8CB5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rPr>
              <a:t>수치 설정과 이미지 에셋을 분리해 관리한다</a:t>
            </a:r>
          </a:p>
        </p:txBody>
      </p:sp>
      <p:sp>
        <p:nvSpPr>
          <p:cNvPr id="3" name="config-label">
            <a:extLst xmlns:a="http://schemas.openxmlformats.org/drawingml/2006/main">
              <a:ext uri="{FF2B5EF4-FFF2-40B4-BE49-F238E27FC236}">
                <a16:creationId xmlns:a16="http://schemas.microsoft.com/office/drawing/2014/main" id="{62A171D3-851D-4587-8FC5-11336934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049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7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7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7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7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7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7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7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7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7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rPr>
              <a:t>전투 수치</a:t>
            </a:r>
          </a:p>
        </p:txBody>
      </p:sp>
      <p:sp>
        <p:nvSpPr>
          <p:cNvPr id="4" name="art-label">
            <a:extLst xmlns:a="http://schemas.openxmlformats.org/drawingml/2006/main">
              <a:ext uri="{FF2B5EF4-FFF2-40B4-BE49-F238E27FC236}">
                <a16:creationId xmlns:a16="http://schemas.microsoft.com/office/drawing/2014/main" id="{694B947E-931A-4686-8F2E-8E8C8D0E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049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7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7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7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7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7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7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7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7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7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rPr>
              <a:t>공유 이미지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40B9A-12B8-4A08-8D6B-5E22F2061F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cf22993af04e31"/>
          <a:stretch xmlns:a="http://schemas.openxmlformats.org/drawingml/2006/main"/>
        </p:blipFill>
        <p:spPr>
          <a:xfrm xmlns:a="http://schemas.openxmlformats.org/drawingml/2006/main">
            <a:off x="1415527" y="2238375"/>
            <a:ext cx="3388771" cy="30956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17445-3101-442A-A375-4AEBBAFC6A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9109700b64653"/>
          <a:stretch xmlns:a="http://schemas.openxmlformats.org/drawingml/2006/main"/>
        </p:blipFill>
        <p:spPr>
          <a:xfrm xmlns:a="http://schemas.openxmlformats.org/drawingml/2006/main">
            <a:off x="7469650" y="2238375"/>
            <a:ext cx="3205825" cy="3095625"/>
          </a:xfrm>
          <a:prstGeom xmlns:a="http://schemas.openxmlformats.org/drawingml/2006/main" prst="rect">
            <a:avLst/>
          </a:prstGeom>
        </p:spPr>
      </p:pic>
      <p:sp>
        <p:nvSpPr>
          <p:cNvPr id="7" name="config-caption">
            <a:extLst xmlns:a="http://schemas.openxmlformats.org/drawingml/2006/main">
              <a:ext uri="{FF2B5EF4-FFF2-40B4-BE49-F238E27FC236}">
                <a16:creationId xmlns:a16="http://schemas.microsoft.com/office/drawing/2014/main" id="{986E7518-3C57-4B35-862C-6312EE0E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53075"/>
            <a:ext cx="481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rPr>
              <a:t>KarmaConfig가 기술 수치를 보관한다</a:t>
            </a:r>
          </a:p>
        </p:txBody>
      </p:sp>
      <p:sp>
        <p:nvSpPr>
          <p:cNvPr id="8" name="art-caption">
            <a:extLst xmlns:a="http://schemas.openxmlformats.org/drawingml/2006/main">
              <a:ext uri="{FF2B5EF4-FFF2-40B4-BE49-F238E27FC236}">
                <a16:creationId xmlns:a16="http://schemas.microsoft.com/office/drawing/2014/main" id="{9EC9814E-6EC0-4CB2-AA2A-4C37B0C9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53075"/>
            <a:ext cx="481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rPr>
              <a:t>공유 설정에서 스프라이트를 조회한다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1D1D496-EB04-47E4-8BFB-A130CE94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rPr>
              <a:t>원본 자동 생성 PNG 발췌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43D7FC78-899D-4B1A-944D-D9145CB0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677715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C26DBDD8-F841-4094-BD5B-BC6101E2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83D"/>
                </a:solidFill>
                <a:latin typeface="Apple SD Gothic Neo"/>
                <a:ea typeface="Apple SD Gothic Neo"/>
                <a:cs typeface="Apple SD Gothic Neo"/>
              </a:rPr>
              <a:t>화면 표시와 전투 연출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03BA8E0-6553-4051-AE6E-FA5766C4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5"/>
                </a:solidFill>
                <a:latin typeface="Apple SD Gothic Neo"/>
                <a:ea typeface="Apple SD Gothic Neo"/>
                <a:cs typeface="Apple SD Gothic Neo"/>
              </a:rPr>
              <a:t>게임 상태를 화면에 표시하고, 행동에 맞는 포즈와 효과를 재생한다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D26A5-F382-4098-A441-9AC5F01167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2b3432be24f16"/>
          <a:stretch xmlns:a="http://schemas.openxmlformats.org/drawingml/2006/main"/>
        </p:blipFill>
        <p:spPr>
          <a:xfrm xmlns:a="http://schemas.openxmlformats.org/drawingml/2006/main">
            <a:off x="1611313" y="1771650"/>
            <a:ext cx="1997075" cy="971550"/>
          </a:xfrm>
          <a:prstGeom xmlns:a="http://schemas.openxmlformats.org/drawingml/2006/main" prst="rect">
            <a:avLst/>
          </a:prstGeom>
        </p:spPr>
      </p:pic>
      <p:sp>
        <p:nvSpPr>
          <p:cNvPr id="4" name="KarmaHUD-role">
            <a:extLst xmlns:a="http://schemas.openxmlformats.org/drawingml/2006/main">
              <a:ext uri="{FF2B5EF4-FFF2-40B4-BE49-F238E27FC236}">
                <a16:creationId xmlns:a16="http://schemas.microsoft.com/office/drawing/2014/main" id="{AE2C7099-B5A4-4022-B610-EC4277CC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19275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rPr>
              <a:t>게임 상태 표시와 UI 조작</a:t>
            </a:r>
          </a:p>
        </p:txBody>
      </p:sp>
      <p:sp>
        <p:nvSpPr>
          <p:cNvPr id="5" name="KarmaHUD-body">
            <a:extLst xmlns:a="http://schemas.openxmlformats.org/drawingml/2006/main">
              <a:ext uri="{FF2B5EF4-FFF2-40B4-BE49-F238E27FC236}">
                <a16:creationId xmlns:a16="http://schemas.microsoft.com/office/drawing/2014/main" id="{38B7EC9F-6768-4019-BAA2-0DFB194B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38375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rPr>
              <a:t>체력과 기술 선택 화면을 표시하고 사용자의 선택을 전달한다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0C417-2C51-41F1-939B-E0191C5FED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4db5530874d29"/>
          <a:stretch xmlns:a="http://schemas.openxmlformats.org/drawingml/2006/main"/>
        </p:blipFill>
        <p:spPr>
          <a:xfrm xmlns:a="http://schemas.openxmlformats.org/drawingml/2006/main">
            <a:off x="693738" y="2876550"/>
            <a:ext cx="3832225" cy="971550"/>
          </a:xfrm>
          <a:prstGeom xmlns:a="http://schemas.openxmlformats.org/drawingml/2006/main" prst="rect">
            <a:avLst/>
          </a:prstGeom>
        </p:spPr>
      </p:pic>
      <p:sp>
        <p:nvSpPr>
          <p:cNvPr id="7" name="KarmaCharacterAnimator-role">
            <a:extLst xmlns:a="http://schemas.openxmlformats.org/drawingml/2006/main">
              <a:ext uri="{FF2B5EF4-FFF2-40B4-BE49-F238E27FC236}">
                <a16:creationId xmlns:a16="http://schemas.microsoft.com/office/drawing/2014/main" id="{4D0A744E-7C45-4817-B8FE-FB4F4171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24175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rPr>
              <a:t>캐릭터 포즈와 프레임</a:t>
            </a:r>
          </a:p>
        </p:txBody>
      </p:sp>
      <p:sp>
        <p:nvSpPr>
          <p:cNvPr id="8" name="KarmaCharacterAnimator-body">
            <a:extLst xmlns:a="http://schemas.openxmlformats.org/drawingml/2006/main">
              <a:ext uri="{FF2B5EF4-FFF2-40B4-BE49-F238E27FC236}">
                <a16:creationId xmlns:a16="http://schemas.microsoft.com/office/drawing/2014/main" id="{A78FB19B-EDAA-4A69-8BD8-D8D1234C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43275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rPr>
              <a:t>플레이어와 수호자의 이동, 공격, 피격 동작을 표시한다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F7DF2-5D39-4315-83FF-757C48740F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53a3bafd34b48"/>
          <a:stretch xmlns:a="http://schemas.openxmlformats.org/drawingml/2006/main"/>
        </p:blipFill>
        <p:spPr>
          <a:xfrm xmlns:a="http://schemas.openxmlformats.org/drawingml/2006/main">
            <a:off x="1161521" y="3981450"/>
            <a:ext cx="2896658" cy="971550"/>
          </a:xfrm>
          <a:prstGeom xmlns:a="http://schemas.openxmlformats.org/drawingml/2006/main" prst="rect">
            <a:avLst/>
          </a:prstGeom>
        </p:spPr>
      </p:pic>
      <p:sp>
        <p:nvSpPr>
          <p:cNvPr id="10" name="KarmaCombatVFX-role">
            <a:extLst xmlns:a="http://schemas.openxmlformats.org/drawingml/2006/main">
              <a:ext uri="{FF2B5EF4-FFF2-40B4-BE49-F238E27FC236}">
                <a16:creationId xmlns:a16="http://schemas.microsoft.com/office/drawing/2014/main" id="{D3E4480C-EE95-4715-93EC-9BCEF0E6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29075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rPr>
              <a:t>공통 전투 효과</a:t>
            </a:r>
          </a:p>
        </p:txBody>
      </p:sp>
      <p:sp>
        <p:nvSpPr>
          <p:cNvPr id="11" name="KarmaCombatVFX-body">
            <a:extLst xmlns:a="http://schemas.openxmlformats.org/drawingml/2006/main">
              <a:ext uri="{FF2B5EF4-FFF2-40B4-BE49-F238E27FC236}">
                <a16:creationId xmlns:a16="http://schemas.microsoft.com/office/drawing/2014/main" id="{7AD9BD2F-B255-4EC5-90E0-16EFC2E4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48175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rPr>
              <a:t>전투 스프라이트와 잔상 등의 시각효과를 생성한다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506DFE-E6A5-44A8-B8F2-1FCE2FA7DE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b5af3dbdb4c25"/>
          <a:stretch xmlns:a="http://schemas.openxmlformats.org/drawingml/2006/main"/>
        </p:blipFill>
        <p:spPr>
          <a:xfrm xmlns:a="http://schemas.openxmlformats.org/drawingml/2006/main">
            <a:off x="1089554" y="5086350"/>
            <a:ext cx="3040592" cy="971550"/>
          </a:xfrm>
          <a:prstGeom xmlns:a="http://schemas.openxmlformats.org/drawingml/2006/main" prst="rect">
            <a:avLst/>
          </a:prstGeom>
        </p:spPr>
      </p:pic>
      <p:sp>
        <p:nvSpPr>
          <p:cNvPr id="13" name="KarmaRemnantVFX-role">
            <a:extLst xmlns:a="http://schemas.openxmlformats.org/drawingml/2006/main">
              <a:ext uri="{FF2B5EF4-FFF2-40B4-BE49-F238E27FC236}">
                <a16:creationId xmlns:a16="http://schemas.microsoft.com/office/drawing/2014/main" id="{34D98EE9-B240-4A15-B48B-62969ACC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33975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63348"/>
                </a:solidFill>
                <a:latin typeface="Apple SD Gothic Neo"/>
                <a:ea typeface="Apple SD Gothic Neo"/>
                <a:cs typeface="Apple SD Gothic Neo"/>
              </a:rPr>
              <a:t>고유화 관련 효과</a:t>
            </a:r>
          </a:p>
        </p:txBody>
      </p:sp>
      <p:sp>
        <p:nvSpPr>
          <p:cNvPr id="14" name="KarmaRemnantVFX-body">
            <a:extLst xmlns:a="http://schemas.openxmlformats.org/drawingml/2006/main">
              <a:ext uri="{FF2B5EF4-FFF2-40B4-BE49-F238E27FC236}">
                <a16:creationId xmlns:a16="http://schemas.microsoft.com/office/drawing/2014/main" id="{A07EF7A2-C0B3-4A36-ADC2-8F3E833F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53075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465368"/>
                </a:solidFill>
                <a:latin typeface="Apple SD Gothic Neo"/>
                <a:ea typeface="Apple SD Gothic Neo"/>
                <a:cs typeface="Apple SD Gothic Neo"/>
              </a:rPr>
              <a:t>고유 기술 발동과 검격에 맞는 시각효과를 표시한다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3F387134-6A4C-4988-9AF9-1DC36FF3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rPr>
              <a:t>원본 자동 생성 PNG 발췌</a:t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DFADE055-3967-44FF-992E-05558FD6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68194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62081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2026-10-28T13:00:43.4630000Z</dcterms:created>
  <dcterms:modified xsi:type="dcterms:W3CDTF">2026-10-28T13:00:43.4630000Z</dcterms:modified>
</coreProperties>
</file>